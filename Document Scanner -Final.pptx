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9" r:id="rId3"/>
    <p:sldId id="288" r:id="rId4"/>
    <p:sldId id="291" r:id="rId5"/>
    <p:sldId id="260" r:id="rId6"/>
    <p:sldId id="261" r:id="rId7"/>
    <p:sldId id="284" r:id="rId8"/>
    <p:sldId id="285" r:id="rId9"/>
    <p:sldId id="262" r:id="rId10"/>
    <p:sldId id="266" r:id="rId11"/>
    <p:sldId id="267" r:id="rId12"/>
    <p:sldId id="263" r:id="rId13"/>
    <p:sldId id="280" r:id="rId14"/>
    <p:sldId id="281" r:id="rId15"/>
    <p:sldId id="282" r:id="rId16"/>
    <p:sldId id="283" r:id="rId17"/>
    <p:sldId id="286" r:id="rId18"/>
    <p:sldId id="269" r:id="rId19"/>
    <p:sldId id="270" r:id="rId20"/>
    <p:sldId id="271" r:id="rId21"/>
    <p:sldId id="273" r:id="rId22"/>
    <p:sldId id="272" r:id="rId23"/>
    <p:sldId id="274" r:id="rId24"/>
    <p:sldId id="305" r:id="rId25"/>
    <p:sldId id="296" r:id="rId26"/>
    <p:sldId id="257" r:id="rId27"/>
    <p:sldId id="297" r:id="rId28"/>
    <p:sldId id="302" r:id="rId29"/>
    <p:sldId id="292" r:id="rId30"/>
    <p:sldId id="293" r:id="rId31"/>
    <p:sldId id="316" r:id="rId32"/>
    <p:sldId id="303" r:id="rId33"/>
    <p:sldId id="306" r:id="rId34"/>
    <p:sldId id="309" r:id="rId35"/>
    <p:sldId id="308" r:id="rId36"/>
    <p:sldId id="312" r:id="rId37"/>
    <p:sldId id="317" r:id="rId38"/>
    <p:sldId id="311" r:id="rId39"/>
    <p:sldId id="314" r:id="rId40"/>
    <p:sldId id="315" r:id="rId41"/>
    <p:sldId id="279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9B37F-D096-4FA5-94A9-F5A8728D4FFD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3D9F-512D-4EC6-BADD-527C1B66824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3390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9B37F-D096-4FA5-94A9-F5A8728D4FFD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3D9F-512D-4EC6-BADD-527C1B668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055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9B37F-D096-4FA5-94A9-F5A8728D4FFD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3D9F-512D-4EC6-BADD-527C1B66824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4659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9B37F-D096-4FA5-94A9-F5A8728D4FFD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3D9F-512D-4EC6-BADD-527C1B668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260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9B37F-D096-4FA5-94A9-F5A8728D4FFD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3D9F-512D-4EC6-BADD-527C1B668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85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9B37F-D096-4FA5-94A9-F5A8728D4FFD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3D9F-512D-4EC6-BADD-527C1B668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006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9B37F-D096-4FA5-94A9-F5A8728D4FFD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3D9F-512D-4EC6-BADD-527C1B668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989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BD9B37F-D096-4FA5-94A9-F5A8728D4FFD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4203D9F-512D-4EC6-BADD-527C1B668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205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9B37F-D096-4FA5-94A9-F5A8728D4FFD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3D9F-512D-4EC6-BADD-527C1B668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151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9B37F-D096-4FA5-94A9-F5A8728D4FFD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3D9F-512D-4EC6-BADD-527C1B668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917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9B37F-D096-4FA5-94A9-F5A8728D4FFD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3D9F-512D-4EC6-BADD-527C1B668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274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BD9B37F-D096-4FA5-94A9-F5A8728D4FFD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4203D9F-512D-4EC6-BADD-527C1B66824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6871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2A99A-25CF-434D-9373-DA6BD6CB8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575" y="422068"/>
            <a:ext cx="10058400" cy="3566160"/>
          </a:xfrm>
        </p:spPr>
        <p:txBody>
          <a:bodyPr/>
          <a:lstStyle/>
          <a:p>
            <a:pPr algn="ctr"/>
            <a:r>
              <a:rPr lang="en-US" dirty="0"/>
              <a:t>Document Scanner </a:t>
            </a:r>
            <a:br>
              <a:rPr lang="en-US" dirty="0"/>
            </a:br>
            <a:r>
              <a:rPr lang="en-US" sz="4400" dirty="0"/>
              <a:t>Using Classical Image Processing and OCR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1194C6-7987-49BA-BAF8-A705D2C898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cap="none" dirty="0"/>
              <a:t>Made By: Ahmed Gaber</a:t>
            </a:r>
          </a:p>
          <a:p>
            <a:pPr algn="ctr"/>
            <a:r>
              <a:rPr lang="en-US" cap="none" dirty="0"/>
              <a:t>SUPERVISED BY: Dr. Tarek </a:t>
            </a:r>
            <a:r>
              <a:rPr lang="en-US" cap="none" dirty="0" err="1"/>
              <a:t>Ghonemy</a:t>
            </a:r>
            <a:r>
              <a:rPr lang="en-US" cap="non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1089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08CAE-235A-447A-B48E-EA4B6AB76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6EC26-D123-4CA8-8EE4-99413614C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complete document scanning system that: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b="1" dirty="0"/>
              <a:t>Captures</a:t>
            </a:r>
            <a:r>
              <a:rPr lang="en-US" dirty="0"/>
              <a:t> document images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b="1" dirty="0"/>
              <a:t>Processes</a:t>
            </a:r>
            <a:r>
              <a:rPr lang="en-US" dirty="0"/>
              <a:t> images to enhance quality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b="1" dirty="0"/>
              <a:t>Detects</a:t>
            </a:r>
            <a:r>
              <a:rPr lang="en-US" dirty="0"/>
              <a:t> document boundaries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b="1" dirty="0"/>
              <a:t>Corrects</a:t>
            </a:r>
            <a:r>
              <a:rPr lang="en-US" dirty="0"/>
              <a:t> perspective distortion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b="1" dirty="0"/>
              <a:t>Extracts</a:t>
            </a:r>
            <a:r>
              <a:rPr lang="en-US" dirty="0"/>
              <a:t> text using OCR</a:t>
            </a:r>
          </a:p>
          <a:p>
            <a:r>
              <a:rPr lang="en-US" b="1" dirty="0">
                <a:solidFill>
                  <a:schemeClr val="tx1"/>
                </a:solidFill>
                <a:latin typeface="quote-cjk-patch"/>
              </a:rPr>
              <a:t>Key Technologies Used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quote-cjk-patch"/>
              </a:rPr>
              <a:t>OpenCV</a:t>
            </a:r>
            <a:r>
              <a:rPr lang="en-US" dirty="0">
                <a:solidFill>
                  <a:schemeClr val="tx1"/>
                </a:solidFill>
                <a:latin typeface="quote-cjk-patch"/>
              </a:rPr>
              <a:t> - Image processing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quote-cjk-patch"/>
              </a:rPr>
              <a:t>NumPy</a:t>
            </a:r>
            <a:r>
              <a:rPr lang="en-US" dirty="0">
                <a:solidFill>
                  <a:schemeClr val="tx1"/>
                </a:solidFill>
                <a:latin typeface="quote-cjk-patch"/>
              </a:rPr>
              <a:t> - Numerical operations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quote-cjk-patch"/>
              </a:rPr>
              <a:t>Tesseract OCR</a:t>
            </a:r>
            <a:r>
              <a:rPr lang="en-US" dirty="0">
                <a:solidFill>
                  <a:schemeClr val="tx1"/>
                </a:solidFill>
                <a:latin typeface="quote-cjk-patch"/>
              </a:rPr>
              <a:t> - Text recognition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quote-cjk-patch"/>
              </a:rPr>
              <a:t>Matplotlib</a:t>
            </a:r>
            <a:r>
              <a:rPr lang="en-US" dirty="0">
                <a:solidFill>
                  <a:schemeClr val="tx1"/>
                </a:solidFill>
                <a:latin typeface="quote-cjk-patch"/>
              </a:rPr>
              <a:t> - Visualization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36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75819-D3EC-4C6A-B7B4-33F07F4A0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F9A0F-97BB-44C3-B580-83B980ED5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fontAlgn="base"/>
            <a:r>
              <a:rPr lang="en-US" b="1" dirty="0"/>
              <a:t>Categories and Characteristics:</a:t>
            </a:r>
          </a:p>
          <a:p>
            <a:pPr marL="749808" lvl="1" indent="-457200" fontAlgn="base">
              <a:buFont typeface="+mj-lt"/>
              <a:buAutoNum type="arabicPeriod"/>
            </a:pPr>
            <a:r>
              <a:rPr lang="en-US" b="1" dirty="0"/>
              <a:t>Advertisements</a:t>
            </a:r>
            <a:r>
              <a:rPr lang="en-US" dirty="0"/>
              <a:t>: Images of promotional materials featuring mixed text, graphics, and unconventional layouts.</a:t>
            </a:r>
          </a:p>
          <a:p>
            <a:pPr marL="749808" lvl="1" indent="-457200" fontAlgn="base">
              <a:buFont typeface="+mj-lt"/>
              <a:buAutoNum type="arabicPeriod"/>
            </a:pPr>
            <a:r>
              <a:rPr lang="en-US" b="1" dirty="0"/>
              <a:t>Emails</a:t>
            </a:r>
            <a:r>
              <a:rPr lang="en-US" dirty="0"/>
              <a:t>: Scanned correspondence, including structured headers, signatures, and body content.</a:t>
            </a:r>
          </a:p>
          <a:p>
            <a:pPr marL="749808" lvl="1" indent="-457200" fontAlgn="base">
              <a:buFont typeface="+mj-lt"/>
              <a:buAutoNum type="arabicPeriod"/>
            </a:pPr>
            <a:r>
              <a:rPr lang="en-US" b="1" dirty="0"/>
              <a:t>Forms</a:t>
            </a:r>
            <a:r>
              <a:rPr lang="en-US" dirty="0"/>
              <a:t>: Predefined templates with structured data fields, such as application forms or invoices.</a:t>
            </a:r>
          </a:p>
          <a:p>
            <a:pPr marL="749808" lvl="1" indent="-457200" fontAlgn="base">
              <a:buFont typeface="+mj-lt"/>
              <a:buAutoNum type="arabicPeriod"/>
            </a:pPr>
            <a:r>
              <a:rPr lang="en-US" b="1" dirty="0"/>
              <a:t>Letters</a:t>
            </a:r>
            <a:r>
              <a:rPr lang="en-US" dirty="0"/>
              <a:t>: Personal or formal correspondence, showcasing handwritten and printed styles.</a:t>
            </a:r>
          </a:p>
          <a:p>
            <a:pPr marL="749808" lvl="1" indent="-457200" fontAlgn="base">
              <a:buFont typeface="+mj-lt"/>
              <a:buAutoNum type="arabicPeriod"/>
            </a:pPr>
            <a:r>
              <a:rPr lang="en-US" b="1" dirty="0"/>
              <a:t>Memos</a:t>
            </a:r>
            <a:r>
              <a:rPr lang="en-US" dirty="0"/>
              <a:t>: Internal business communications with concise text and headers.</a:t>
            </a:r>
          </a:p>
          <a:p>
            <a:pPr marL="749808" lvl="1" indent="-457200" fontAlgn="base">
              <a:buFont typeface="+mj-lt"/>
              <a:buAutoNum type="arabicPeriod"/>
            </a:pPr>
            <a:r>
              <a:rPr lang="en-US" b="1" dirty="0"/>
              <a:t>News</a:t>
            </a:r>
            <a:r>
              <a:rPr lang="en-US" dirty="0"/>
              <a:t>: Scanned newspaper clippings and articles, combining columns, images, and headlines.</a:t>
            </a:r>
          </a:p>
          <a:p>
            <a:pPr marL="749808" lvl="1" indent="-457200" fontAlgn="base">
              <a:buFont typeface="+mj-lt"/>
              <a:buAutoNum type="arabicPeriod"/>
            </a:pPr>
            <a:r>
              <a:rPr lang="en-US" b="1" dirty="0"/>
              <a:t>Notes</a:t>
            </a:r>
            <a:r>
              <a:rPr lang="en-US" dirty="0"/>
              <a:t>: Informal handwritten or typed notes, often featuring irregular spacing and formatting.</a:t>
            </a:r>
          </a:p>
          <a:p>
            <a:pPr marL="749808" lvl="1" indent="-457200" fontAlgn="base">
              <a:buFont typeface="+mj-lt"/>
              <a:buAutoNum type="arabicPeriod"/>
            </a:pPr>
            <a:r>
              <a:rPr lang="en-US" b="1" dirty="0"/>
              <a:t>Reports</a:t>
            </a:r>
            <a:r>
              <a:rPr lang="en-US" dirty="0"/>
              <a:t>: Documents with structured sections, tables, and graphs, such as financial or project reports.</a:t>
            </a:r>
          </a:p>
          <a:p>
            <a:pPr marL="749808" lvl="1" indent="-457200" fontAlgn="base">
              <a:buFont typeface="+mj-lt"/>
              <a:buAutoNum type="arabicPeriod"/>
            </a:pPr>
            <a:r>
              <a:rPr lang="en-US" b="1" dirty="0"/>
              <a:t>Resumes</a:t>
            </a:r>
            <a:r>
              <a:rPr lang="en-US" dirty="0"/>
              <a:t>: Personal profiles with a mix of structured text fields, tabular data, and occasional creative designs.</a:t>
            </a:r>
          </a:p>
          <a:p>
            <a:pPr marL="749808" lvl="1" indent="-457200" fontAlgn="base">
              <a:buFont typeface="+mj-lt"/>
              <a:buAutoNum type="arabicPeriod"/>
            </a:pPr>
            <a:r>
              <a:rPr lang="en-US" b="1" dirty="0"/>
              <a:t>Scientific Papers</a:t>
            </a:r>
            <a:r>
              <a:rPr lang="en-US" dirty="0"/>
              <a:t>: Complex layouts featuring dense text, mathematical equations, tables, and diagrams.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55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75819-D3EC-4C6A-B7B4-33F07F4A0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EC7276-60F5-46D1-A4B2-4688D8BBFB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1602"/>
          <a:stretch/>
        </p:blipFill>
        <p:spPr>
          <a:xfrm>
            <a:off x="632807" y="1985761"/>
            <a:ext cx="1444646" cy="28864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20AAD6-709D-4F03-8629-BCFA42739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6407" y="1985761"/>
            <a:ext cx="7775971" cy="4065352"/>
          </a:xfrm>
          <a:prstGeom prst="rect">
            <a:avLst/>
          </a:prstGeom>
        </p:spPr>
      </p:pic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6C492F2F-F3FF-4312-ACD1-8A7DF6CFBF6D}"/>
              </a:ext>
            </a:extLst>
          </p:cNvPr>
          <p:cNvCxnSpPr/>
          <p:nvPr/>
        </p:nvCxnSpPr>
        <p:spPr>
          <a:xfrm>
            <a:off x="1235242" y="2398295"/>
            <a:ext cx="1676400" cy="60157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856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76DB9-8755-48B6-9B63-77F9B148E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Complete Pipeline</a:t>
            </a:r>
            <a:br>
              <a:rPr lang="en-US" b="1" dirty="0"/>
            </a:br>
            <a:r>
              <a:rPr lang="en-US" sz="2700" b="1" dirty="0"/>
              <a:t>8-Step Process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63A87-BC02-40A3-B121-72967E244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15518" lvl="1" indent="-514350">
              <a:buFont typeface="+mj-lt"/>
              <a:buAutoNum type="arabicPeriod"/>
            </a:pPr>
            <a:r>
              <a:rPr lang="en-US" sz="2400" b="1" dirty="0"/>
              <a:t>The Image Loading</a:t>
            </a:r>
            <a:r>
              <a:rPr lang="en-US" sz="2400" dirty="0"/>
              <a:t> → Read input image</a:t>
            </a:r>
          </a:p>
          <a:p>
            <a:pPr marL="715518" lvl="1" indent="-514350">
              <a:buFont typeface="+mj-lt"/>
              <a:buAutoNum type="arabicPeriod"/>
            </a:pPr>
            <a:r>
              <a:rPr lang="en-US" sz="2400" b="1" dirty="0"/>
              <a:t>Grayscale Conversion</a:t>
            </a:r>
            <a:r>
              <a:rPr lang="en-US" sz="2400" dirty="0"/>
              <a:t> → Simplify processing</a:t>
            </a:r>
          </a:p>
          <a:p>
            <a:pPr marL="715518" lvl="1" indent="-514350">
              <a:buFont typeface="+mj-lt"/>
              <a:buAutoNum type="arabicPeriod"/>
            </a:pPr>
            <a:r>
              <a:rPr lang="en-US" sz="2400" b="1" dirty="0"/>
              <a:t>Noise Removal</a:t>
            </a:r>
            <a:r>
              <a:rPr lang="en-US" sz="2400" dirty="0"/>
              <a:t> → Clean image</a:t>
            </a:r>
          </a:p>
          <a:p>
            <a:pPr marL="715518" lvl="1" indent="-514350">
              <a:buFont typeface="+mj-lt"/>
              <a:buAutoNum type="arabicPeriod"/>
            </a:pPr>
            <a:r>
              <a:rPr lang="en-US" sz="2400" b="1" dirty="0"/>
              <a:t>Edge Detection</a:t>
            </a:r>
            <a:r>
              <a:rPr lang="en-US" sz="2400" dirty="0"/>
              <a:t> → Find boundaries</a:t>
            </a:r>
          </a:p>
          <a:p>
            <a:pPr marL="715518" lvl="1" indent="-514350">
              <a:buFont typeface="+mj-lt"/>
              <a:buAutoNum type="arabicPeriod"/>
            </a:pPr>
            <a:r>
              <a:rPr lang="en-US" sz="2400" b="1" dirty="0"/>
              <a:t>Morphological Operations</a:t>
            </a:r>
            <a:r>
              <a:rPr lang="en-US" sz="2400" dirty="0"/>
              <a:t> → Enhance features</a:t>
            </a:r>
          </a:p>
          <a:p>
            <a:pPr marL="715518" lvl="1" indent="-514350">
              <a:buFont typeface="+mj-lt"/>
              <a:buAutoNum type="arabicPeriod"/>
            </a:pPr>
            <a:r>
              <a:rPr lang="en-US" sz="2400" b="1" dirty="0"/>
              <a:t>Contour Detection</a:t>
            </a:r>
            <a:r>
              <a:rPr lang="en-US" sz="2400" dirty="0"/>
              <a:t> → Locate document</a:t>
            </a:r>
          </a:p>
          <a:p>
            <a:pPr marL="715518" lvl="1" indent="-514350">
              <a:buFont typeface="+mj-lt"/>
              <a:buAutoNum type="arabicPeriod"/>
            </a:pPr>
            <a:r>
              <a:rPr lang="en-US" sz="2400" b="1" dirty="0"/>
              <a:t>Perspective Correction</a:t>
            </a:r>
            <a:r>
              <a:rPr lang="en-US" sz="2400" dirty="0"/>
              <a:t> → Fix distortion</a:t>
            </a:r>
          </a:p>
          <a:p>
            <a:pPr marL="715518" lvl="1" indent="-514350">
              <a:buFont typeface="+mj-lt"/>
              <a:buAutoNum type="arabicPeriod"/>
            </a:pPr>
            <a:r>
              <a:rPr lang="en-US" sz="2400" b="1" dirty="0"/>
              <a:t>OCR Processing</a:t>
            </a:r>
            <a:r>
              <a:rPr lang="en-US" sz="2400" dirty="0"/>
              <a:t> → Extract text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09488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55381-2C27-442F-94C9-901C2CEB5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 Step 1 - Image Loading &amp; Color Conversion</a:t>
            </a:r>
            <a:endParaRPr lang="en-US" sz="4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53DE14-1BD7-4D0D-B792-94AAD96C3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678" y="2454303"/>
            <a:ext cx="4758790" cy="218988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34D9EA-4789-4300-BC16-0E46A8AD7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954" y="2117558"/>
            <a:ext cx="4799116" cy="363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845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55381-2C27-442F-94C9-901C2CEB5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749815" cy="1450757"/>
          </a:xfrm>
        </p:spPr>
        <p:txBody>
          <a:bodyPr>
            <a:normAutofit/>
          </a:bodyPr>
          <a:lstStyle/>
          <a:p>
            <a:r>
              <a:rPr lang="en-US" sz="3600" b="1" dirty="0"/>
              <a:t>Step2- CLAHE (Contrast Limited Adaptive Histogram Equalization):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E4F460-D0A4-4FC9-9D38-4D161D543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725" y="5598909"/>
            <a:ext cx="5378056" cy="5048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1EA2E4-0891-4F38-A781-018AC314FC88}"/>
              </a:ext>
            </a:extLst>
          </p:cNvPr>
          <p:cNvSpPr txBox="1"/>
          <p:nvPr/>
        </p:nvSpPr>
        <p:spPr>
          <a:xfrm>
            <a:off x="1327150" y="2069431"/>
            <a:ext cx="497739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Advanced image processing technique used to enhance contrast in digital images.</a:t>
            </a:r>
          </a:p>
          <a:p>
            <a:r>
              <a:rPr lang="en-US" b="1" dirty="0"/>
              <a:t>Tiles in CLAHE are: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Local processing units</a:t>
            </a:r>
            <a:r>
              <a:rPr lang="en-US" dirty="0"/>
              <a:t> that allow adaptive enhancement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Small image segments</a:t>
            </a:r>
            <a:r>
              <a:rPr lang="en-US" dirty="0"/>
              <a:t> processed independently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Blended together</a:t>
            </a:r>
            <a:r>
              <a:rPr lang="en-US" dirty="0"/>
              <a:t> to avoid visible boundaries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Configurable</a:t>
            </a:r>
            <a:r>
              <a:rPr lang="en-US" dirty="0"/>
              <a:t> based on image size and enhancement needs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26" name="Picture 2" descr="Contrast Limited Adaptive Histogram Equalization - MATLAB &amp; Simulink">
            <a:extLst>
              <a:ext uri="{FF2B5EF4-FFF2-40B4-BE49-F238E27FC236}">
                <a16:creationId xmlns:a16="http://schemas.microsoft.com/office/drawing/2014/main" id="{08863A66-5EF6-4864-B0DD-709B8625B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1255" y="1869280"/>
            <a:ext cx="4824997" cy="3469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976A0E-2CE9-4EF2-A328-FABC8BB956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0311" y="5538304"/>
            <a:ext cx="4188595" cy="55903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865242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55381-2C27-442F-94C9-901C2CEB5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749815" cy="1450757"/>
          </a:xfrm>
        </p:spPr>
        <p:txBody>
          <a:bodyPr>
            <a:normAutofit/>
          </a:bodyPr>
          <a:lstStyle/>
          <a:p>
            <a:r>
              <a:rPr lang="en-US" sz="3600" b="1" dirty="0"/>
              <a:t>Step2- CLAHE (Contrast Limited Adaptive Histogram Equalization):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4389FF-BF3C-4933-A659-9A6384257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158" y="1960896"/>
            <a:ext cx="10146380" cy="4053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763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86EB6-B6BB-4F99-847A-6D36CEFC9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43803"/>
            <a:ext cx="10058400" cy="1450757"/>
          </a:xfrm>
        </p:spPr>
        <p:txBody>
          <a:bodyPr>
            <a:normAutofit fontScale="90000"/>
          </a:bodyPr>
          <a:lstStyle/>
          <a:p>
            <a:br>
              <a:rPr lang="en-US" sz="4000" b="1" dirty="0"/>
            </a:br>
            <a:br>
              <a:rPr lang="en-US" sz="4000" b="1" dirty="0"/>
            </a:br>
            <a:br>
              <a:rPr lang="en-US" sz="4000" b="1" dirty="0"/>
            </a:br>
            <a:r>
              <a:rPr lang="en-US" sz="4000" b="1" dirty="0"/>
              <a:t>Step 3 - Noise Removal (Gaussian Blur)</a:t>
            </a:r>
            <a:br>
              <a:rPr lang="en-US" sz="4000" b="1" dirty="0"/>
            </a:br>
            <a:endParaRPr lang="en-US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2C243-68DB-493A-8C97-BCE8FB965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752699" cy="4023360"/>
          </a:xfrm>
        </p:spPr>
        <p:txBody>
          <a:bodyPr/>
          <a:lstStyle/>
          <a:p>
            <a:r>
              <a:rPr lang="en-US" b="1" dirty="0"/>
              <a:t>The Problem</a:t>
            </a:r>
          </a:p>
          <a:p>
            <a:pPr lvl="1"/>
            <a:r>
              <a:rPr lang="en-US" dirty="0"/>
              <a:t>Images contain </a:t>
            </a:r>
            <a:r>
              <a:rPr lang="en-US" b="1" dirty="0"/>
              <a:t>noise</a:t>
            </a:r>
            <a:r>
              <a:rPr lang="en-US" dirty="0"/>
              <a:t> (random pixel variations)</a:t>
            </a:r>
          </a:p>
          <a:p>
            <a:pPr lvl="1"/>
            <a:r>
              <a:rPr lang="en-US" dirty="0"/>
              <a:t>Noise interferes with edge detection</a:t>
            </a:r>
          </a:p>
          <a:p>
            <a:pPr lvl="1"/>
            <a:r>
              <a:rPr lang="en-US" dirty="0"/>
              <a:t>Caused by camera sensors, lighting, compression</a:t>
            </a:r>
          </a:p>
          <a:p>
            <a:pPr marL="201168" lvl="1" indent="0">
              <a:buNone/>
            </a:pPr>
            <a:endParaRPr lang="en-US" b="1" dirty="0"/>
          </a:p>
          <a:p>
            <a:pPr marL="201168" lvl="1" indent="0">
              <a:buNone/>
            </a:pPr>
            <a:r>
              <a:rPr lang="en-US" b="1" dirty="0"/>
              <a:t>Solution: Gaussian Blur (smoothing filter)</a:t>
            </a:r>
            <a:endParaRPr lang="en-US" dirty="0"/>
          </a:p>
          <a:p>
            <a:pPr marL="749808" lvl="1" indent="-457200">
              <a:buFont typeface="+mj-lt"/>
              <a:buAutoNum type="arabicPeriod"/>
            </a:pPr>
            <a:r>
              <a:rPr lang="en-US" b="1" dirty="0"/>
              <a:t>How it works</a:t>
            </a:r>
            <a:r>
              <a:rPr lang="en-US" dirty="0"/>
              <a:t>: Applies weighted average using Gaussian distribution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b="1" dirty="0"/>
              <a:t>Kernel size (5,5)</a:t>
            </a:r>
            <a:r>
              <a:rPr lang="en-US" dirty="0"/>
              <a:t>: Defines the area for averaging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b="1" dirty="0"/>
              <a:t>Sigma (1)</a:t>
            </a:r>
            <a:r>
              <a:rPr lang="en-US" dirty="0"/>
              <a:t>: Controls the spread of the Gaussian curve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41A2C3-C5C0-4FE4-A33C-8F2860E12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7664" y="5270119"/>
            <a:ext cx="3781953" cy="7430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BA29FF-1ACC-41F0-B00A-686A6F707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360" y="1950118"/>
            <a:ext cx="4097257" cy="310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967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A2078-C356-4D5A-9EB3-0ABF5C174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Step 4 - Morphological Operations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E0478-0EDE-4A62-B96E-970D2F0D8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Problem</a:t>
            </a:r>
          </a:p>
          <a:p>
            <a:pPr marL="201168" lvl="1" indent="0">
              <a:buNone/>
            </a:pPr>
            <a:r>
              <a:rPr lang="en-US" dirty="0"/>
              <a:t>Binary images may have:</a:t>
            </a:r>
          </a:p>
          <a:p>
            <a:pPr lvl="1"/>
            <a:r>
              <a:rPr lang="en-US" b="1" dirty="0"/>
              <a:t>Broken edges</a:t>
            </a:r>
            <a:r>
              <a:rPr lang="en-US" dirty="0"/>
              <a:t> (disconnected lines)</a:t>
            </a:r>
          </a:p>
          <a:p>
            <a:pPr lvl="1"/>
            <a:r>
              <a:rPr lang="en-US" b="1" dirty="0"/>
              <a:t>Small holes</a:t>
            </a:r>
            <a:r>
              <a:rPr lang="en-US" dirty="0"/>
              <a:t> (gaps in contours)</a:t>
            </a:r>
          </a:p>
          <a:p>
            <a:pPr lvl="1"/>
            <a:r>
              <a:rPr lang="en-US" b="1" dirty="0"/>
              <a:t>Noise artifacts</a:t>
            </a:r>
            <a:r>
              <a:rPr lang="en-US" dirty="0"/>
              <a:t> (isolated pixels)</a:t>
            </a:r>
          </a:p>
          <a:p>
            <a:r>
              <a:rPr lang="en-US" b="1" dirty="0">
                <a:solidFill>
                  <a:srgbClr val="FF0000"/>
                </a:solidFill>
              </a:rPr>
              <a:t>Dilation</a:t>
            </a:r>
            <a:r>
              <a:rPr lang="en-US" b="1" dirty="0"/>
              <a:t>: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b="1" dirty="0"/>
              <a:t>Expands</a:t>
            </a:r>
            <a:r>
              <a:rPr lang="en-US" dirty="0"/>
              <a:t> white regions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b="1" dirty="0"/>
              <a:t>Connects</a:t>
            </a:r>
            <a:r>
              <a:rPr lang="en-US" dirty="0"/>
              <a:t> broken edges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b="1" dirty="0"/>
              <a:t>Fills</a:t>
            </a:r>
            <a:r>
              <a:rPr lang="en-US" dirty="0"/>
              <a:t> small gaps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73FFBF-274A-494F-9392-F03D37CC6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2587" y="5020393"/>
            <a:ext cx="3801005" cy="9812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0BC6B8-8190-474C-A439-67BBA5745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860" y="1978245"/>
            <a:ext cx="3842999" cy="290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913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A2078-C356-4D5A-9EB3-0ABF5C174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Step 4 - Morphological Operations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E0478-0EDE-4A62-B96E-970D2F0D8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7491" y="2206681"/>
            <a:ext cx="10058400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Erode</a:t>
            </a:r>
            <a:r>
              <a:rPr lang="en-US" b="1" dirty="0"/>
              <a:t>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Shrinks</a:t>
            </a:r>
            <a:r>
              <a:rPr lang="en-US" dirty="0"/>
              <a:t> white regions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 Removes</a:t>
            </a:r>
            <a:r>
              <a:rPr lang="en-US" dirty="0"/>
              <a:t> small noise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 Separates</a:t>
            </a:r>
            <a:r>
              <a:rPr lang="en-US" dirty="0"/>
              <a:t> connected objects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BB8433-2CBA-40C9-BE70-330DFE79E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239" y="5327874"/>
            <a:ext cx="3877216" cy="8002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CE42EA-6BB0-412F-A13F-ADD5F6FF9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204" y="1904800"/>
            <a:ext cx="4122419" cy="3121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007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D2B4F-98F8-4D5E-9D12-E0DB696D1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Step 4 - Edge Detection (Canny Algorithm)</a:t>
            </a: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07592-80DC-4D33-94DE-11A1E16FA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/>
          <a:lstStyle/>
          <a:p>
            <a:r>
              <a:rPr lang="en-US" sz="1800" b="1" dirty="0"/>
              <a:t>What are Edges?</a:t>
            </a:r>
          </a:p>
          <a:p>
            <a:pPr lvl="1"/>
            <a:r>
              <a:rPr lang="en-US" sz="1600" b="1" dirty="0"/>
              <a:t>Edges</a:t>
            </a:r>
            <a:r>
              <a:rPr lang="en-US" sz="1600" dirty="0"/>
              <a:t>: Sudden changes in pixel intensity</a:t>
            </a:r>
          </a:p>
          <a:p>
            <a:pPr lvl="1"/>
            <a:r>
              <a:rPr lang="en-US" sz="1600" b="1" dirty="0"/>
              <a:t>Important</a:t>
            </a:r>
            <a:r>
              <a:rPr lang="en-US" sz="1600" dirty="0"/>
              <a:t>: Document boundaries are edges!</a:t>
            </a:r>
          </a:p>
          <a:p>
            <a:pPr lvl="1"/>
            <a:r>
              <a:rPr lang="en-US" sz="1600" b="1" dirty="0"/>
              <a:t>Challenge</a:t>
            </a:r>
            <a:r>
              <a:rPr lang="en-US" sz="1600" dirty="0"/>
              <a:t>: Distinguish real edges from noise</a:t>
            </a:r>
          </a:p>
          <a:p>
            <a:pPr lvl="1"/>
            <a:endParaRPr lang="en-US" sz="1600" dirty="0"/>
          </a:p>
          <a:p>
            <a:r>
              <a:rPr lang="en-US" b="1" dirty="0"/>
              <a:t>Canny Edge Detection: 4-Step Process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US" sz="1600" b="1" dirty="0"/>
              <a:t>Noise Reduction</a:t>
            </a:r>
            <a:r>
              <a:rPr lang="en-US" sz="1600" dirty="0"/>
              <a:t> (already done with Gaussian blur)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US" sz="1600" b="1" dirty="0"/>
              <a:t>Gradient Calculation</a:t>
            </a:r>
            <a:r>
              <a:rPr lang="en-US" sz="1600" dirty="0"/>
              <a:t> - Finds intensity changes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US" sz="1600" b="1" dirty="0"/>
              <a:t>Non-Maximum Suppression</a:t>
            </a:r>
            <a:r>
              <a:rPr lang="en-US" sz="1600" dirty="0"/>
              <a:t> - Thins edges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US" sz="1600" b="1" dirty="0"/>
              <a:t>Hysteresis Thresholding</a:t>
            </a:r>
            <a:r>
              <a:rPr lang="en-US" sz="1600" dirty="0"/>
              <a:t> - Final edge selection</a:t>
            </a:r>
          </a:p>
          <a:p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191782-F6AB-4A26-8CD6-EBE116A55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3091" y="5363768"/>
            <a:ext cx="3229426" cy="85737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5310673-91C8-4BB4-9877-729D79002E4E}"/>
              </a:ext>
            </a:extLst>
          </p:cNvPr>
          <p:cNvSpPr/>
          <p:nvPr/>
        </p:nvSpPr>
        <p:spPr>
          <a:xfrm>
            <a:off x="7696851" y="2749032"/>
            <a:ext cx="4021905" cy="2191124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Threshold Values Explained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Low threshold (100)</a:t>
            </a:r>
            <a:r>
              <a:rPr lang="en-US" sz="1600" dirty="0"/>
              <a:t>: Minimum intensity for edges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High threshold (200)</a:t>
            </a:r>
            <a:r>
              <a:rPr lang="en-US" sz="1600" dirty="0"/>
              <a:t>: Strong edges definitely kept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Hysteresis</a:t>
            </a:r>
            <a:r>
              <a:rPr lang="en-US" sz="1600" dirty="0"/>
              <a:t>: Edges between thresholds are kept if connected to strong edges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D3AFB2-08FC-4931-9B32-4909F47427C0}"/>
              </a:ext>
            </a:extLst>
          </p:cNvPr>
          <p:cNvSpPr/>
          <p:nvPr/>
        </p:nvSpPr>
        <p:spPr>
          <a:xfrm>
            <a:off x="371302" y="5588588"/>
            <a:ext cx="64783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quote-cjk-patch"/>
              </a:rPr>
              <a:t>Why Canny? Produces thin, connected edges with minimal noise!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16187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D974E-04AE-4F89-81CF-4BE1BD335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Step4- Canny edge detection (</a:t>
            </a:r>
            <a:r>
              <a:rPr lang="en-US" sz="3600" b="1" dirty="0"/>
              <a:t>Finding Intensity Gradients</a:t>
            </a:r>
            <a:r>
              <a:rPr lang="en-US" sz="36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EB466-56E9-4A43-A9ED-DA12A9A75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Content:</a:t>
            </a:r>
            <a:r>
              <a:rPr lang="en-US" dirty="0"/>
              <a:t> Detect areas of rapid intensity change. Calculate both the </a:t>
            </a:r>
            <a:r>
              <a:rPr lang="en-US" b="1" dirty="0"/>
              <a:t>strength</a:t>
            </a:r>
            <a:r>
              <a:rPr lang="en-US" dirty="0"/>
              <a:t> and </a:t>
            </a:r>
            <a:r>
              <a:rPr lang="en-US" b="1" dirty="0"/>
              <a:t>direction</a:t>
            </a:r>
            <a:r>
              <a:rPr lang="en-US" dirty="0"/>
              <a:t> of the change at each pixel.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How?</a:t>
            </a:r>
            <a:r>
              <a:rPr lang="en-US" dirty="0"/>
              <a:t> Apply Sobel (or Prewitt) filters in the horizontal (</a:t>
            </a:r>
            <a:r>
              <a:rPr lang="en-US" dirty="0" err="1"/>
              <a:t>Gx</a:t>
            </a:r>
            <a:r>
              <a:rPr lang="en-US" dirty="0"/>
              <a:t>) and vertical (</a:t>
            </a:r>
            <a:r>
              <a:rPr lang="en-US" dirty="0" err="1"/>
              <a:t>Gy</a:t>
            </a:r>
            <a:r>
              <a:rPr lang="en-US" dirty="0"/>
              <a:t>) directions.</a:t>
            </a:r>
            <a:br>
              <a:rPr lang="en-US" dirty="0"/>
            </a:br>
            <a:r>
              <a:rPr lang="en-US" b="1" dirty="0"/>
              <a:t>Visual:</a:t>
            </a:r>
            <a:endParaRPr lang="en-US" dirty="0"/>
          </a:p>
        </p:txBody>
      </p:sp>
      <p:pic>
        <p:nvPicPr>
          <p:cNvPr id="1028" name="Picture 4" descr="6 Sobel, Prewitt, and Roberts edge detector mask and the first order... |  Download Scientific Diagram">
            <a:extLst>
              <a:ext uri="{FF2B5EF4-FFF2-40B4-BE49-F238E27FC236}">
                <a16:creationId xmlns:a16="http://schemas.microsoft.com/office/drawing/2014/main" id="{60C008DA-4CD5-49A8-8D68-5055A6797F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3726" y="3688940"/>
            <a:ext cx="3474620" cy="2180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nalyzing and Enhancing Images (Image Processing Toolbox)">
            <a:extLst>
              <a:ext uri="{FF2B5EF4-FFF2-40B4-BE49-F238E27FC236}">
                <a16:creationId xmlns:a16="http://schemas.microsoft.com/office/drawing/2014/main" id="{96D6FE94-ECD5-41EE-85B4-7EBC146FE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3857414"/>
            <a:ext cx="4876800" cy="193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3267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E639F-E464-41F7-ADC9-C8FBC9F04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Canny edge detection (</a:t>
            </a:r>
            <a:r>
              <a:rPr lang="en-US" sz="3600" b="1" dirty="0"/>
              <a:t>Non-Maximum Suppression</a:t>
            </a:r>
            <a:r>
              <a:rPr lang="en-US" sz="36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E6F0F-436F-4821-8C33-51EF52DAE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Content: The gradient image has thick edges. We want thin, precise lines.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How? For each pixel, we check along the gradient direction. We keep the pixel only if it is the local maximum along that direction; otherwise, we suppress it (set to zero).</a:t>
            </a:r>
            <a:br>
              <a:rPr lang="en-US" b="1" dirty="0"/>
            </a:br>
            <a:endParaRPr lang="en-US" b="1" dirty="0"/>
          </a:p>
        </p:txBody>
      </p:sp>
      <p:pic>
        <p:nvPicPr>
          <p:cNvPr id="2050" name="Picture 2" descr="non max suppression | TheAILearner">
            <a:extLst>
              <a:ext uri="{FF2B5EF4-FFF2-40B4-BE49-F238E27FC236}">
                <a16:creationId xmlns:a16="http://schemas.microsoft.com/office/drawing/2014/main" id="{014974D0-DEB3-4F98-B172-DC40C0E27A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795" y="3056436"/>
            <a:ext cx="6072689" cy="3109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9683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17E07-5FEF-4A42-8350-B74427F10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 </a:t>
            </a:r>
            <a:br>
              <a:rPr lang="en-US" sz="4000" dirty="0"/>
            </a:br>
            <a:r>
              <a:rPr lang="en-US" sz="4000" dirty="0"/>
              <a:t>Canny edge detection (</a:t>
            </a:r>
            <a:r>
              <a:rPr lang="en-US" sz="4000" b="1" dirty="0"/>
              <a:t>Hysteresis Thresholding</a:t>
            </a:r>
            <a:r>
              <a:rPr lang="en-US" sz="40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71211-9E74-42A0-BC2A-3E15E1AC1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Content:</a:t>
            </a:r>
            <a:r>
              <a:rPr lang="en-US" dirty="0"/>
              <a:t> Decide which edges are </a:t>
            </a:r>
            <a:r>
              <a:rPr lang="en-US" i="1" dirty="0"/>
              <a:t>real</a:t>
            </a:r>
            <a:r>
              <a:rPr lang="en-US" dirty="0"/>
              <a:t> and which are due to noise.</a:t>
            </a:r>
            <a:br>
              <a:rPr lang="en-US" dirty="0"/>
            </a:br>
            <a:r>
              <a:rPr lang="en-US" b="1" dirty="0"/>
              <a:t>How?</a:t>
            </a:r>
            <a:endParaRPr lang="en-US" dirty="0"/>
          </a:p>
          <a:p>
            <a:r>
              <a:rPr lang="en-US" b="1" dirty="0"/>
              <a:t>Double Threshold:</a:t>
            </a:r>
            <a:r>
              <a:rPr lang="en-US" dirty="0"/>
              <a:t> We set two levels:</a:t>
            </a:r>
          </a:p>
          <a:p>
            <a:pPr lvl="1"/>
            <a:r>
              <a:rPr lang="en-US" b="1" dirty="0"/>
              <a:t>High Threshold:</a:t>
            </a:r>
            <a:r>
              <a:rPr lang="en-US" dirty="0"/>
              <a:t> Pixels stronger than this are </a:t>
            </a:r>
            <a:r>
              <a:rPr lang="en-US" b="1" dirty="0"/>
              <a:t>"strong edges"</a:t>
            </a:r>
            <a:r>
              <a:rPr lang="en-US" dirty="0"/>
              <a:t> (keep).</a:t>
            </a:r>
          </a:p>
          <a:p>
            <a:pPr lvl="1"/>
            <a:r>
              <a:rPr lang="en-US" b="1" dirty="0"/>
              <a:t>Low Threshold:</a:t>
            </a:r>
            <a:r>
              <a:rPr lang="en-US" dirty="0"/>
              <a:t> Pixels weaker than this are </a:t>
            </a:r>
            <a:r>
              <a:rPr lang="en-US" b="1" dirty="0"/>
              <a:t>discarded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Pixels in between are </a:t>
            </a:r>
            <a:r>
              <a:rPr lang="en-US" b="1" dirty="0"/>
              <a:t>"weak edges"</a:t>
            </a:r>
            <a:r>
              <a:rPr lang="en-US" dirty="0"/>
              <a:t> (maybe keep).</a:t>
            </a:r>
          </a:p>
          <a:p>
            <a:r>
              <a:rPr lang="en-US" b="1" dirty="0"/>
              <a:t>Hysteresis Tracking:</a:t>
            </a:r>
            <a:r>
              <a:rPr lang="en-US" dirty="0"/>
              <a:t> A weak edge is kept </a:t>
            </a:r>
            <a:r>
              <a:rPr lang="en-US" b="1" dirty="0"/>
              <a:t>only if</a:t>
            </a:r>
            <a:r>
              <a:rPr lang="en-US" dirty="0"/>
              <a:t> it is connected to a strong edge. This links broken segments.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5480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17E07-5FEF-4A42-8350-B74427F10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 </a:t>
            </a:r>
            <a:br>
              <a:rPr lang="en-US" sz="4000" dirty="0"/>
            </a:br>
            <a:r>
              <a:rPr lang="en-US" sz="4000" dirty="0"/>
              <a:t>Canny edge detection (</a:t>
            </a:r>
            <a:r>
              <a:rPr lang="en-US" sz="4000" b="1" dirty="0"/>
              <a:t>Hysteresis Thresholding</a:t>
            </a:r>
            <a:r>
              <a:rPr lang="en-US" sz="4000" dirty="0"/>
              <a:t>)</a:t>
            </a:r>
          </a:p>
        </p:txBody>
      </p:sp>
      <p:pic>
        <p:nvPicPr>
          <p:cNvPr id="4" name="Picture 2" descr="Hysteresis thresholding — skimage 0.24.0 documentation">
            <a:extLst>
              <a:ext uri="{FF2B5EF4-FFF2-40B4-BE49-F238E27FC236}">
                <a16:creationId xmlns:a16="http://schemas.microsoft.com/office/drawing/2014/main" id="{9AD2655A-94A5-4910-A8C1-E2FD60716E2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8926" y="1894390"/>
            <a:ext cx="5363633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A0FC1C-953F-4A45-9C28-006B1E5C01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485" y="2561752"/>
            <a:ext cx="5363633" cy="225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9389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D2B4F-98F8-4D5E-9D12-E0DB696D1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Step 4 - Edge Detection (Canny Algorithm)</a:t>
            </a:r>
            <a:endParaRPr lang="en-US" sz="4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37FA87-C47F-4CC4-9416-4BC0A99A5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0175" y="1865696"/>
            <a:ext cx="5564225" cy="4212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742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A4F20-023D-4D2E-A643-8E92038CC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Step 6 - Contour Detection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3BFC6-D62C-4C6A-9876-1F228E82C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are Contours?</a:t>
            </a:r>
          </a:p>
          <a:p>
            <a:pPr lvl="1"/>
            <a:r>
              <a:rPr lang="en-US" b="1" dirty="0"/>
              <a:t>Closed curves</a:t>
            </a:r>
            <a:r>
              <a:rPr lang="en-US" dirty="0"/>
              <a:t> joining continuous points</a:t>
            </a:r>
          </a:p>
          <a:p>
            <a:pPr lvl="1"/>
            <a:r>
              <a:rPr lang="en-US" b="1" dirty="0"/>
              <a:t>Boundaries</a:t>
            </a:r>
            <a:r>
              <a:rPr lang="en-US" dirty="0"/>
              <a:t> of objects in binary images</a:t>
            </a:r>
          </a:p>
          <a:p>
            <a:pPr lvl="1"/>
            <a:r>
              <a:rPr lang="en-US" b="1" dirty="0"/>
              <a:t>Hierarchical</a:t>
            </a:r>
            <a:r>
              <a:rPr lang="en-US" dirty="0"/>
              <a:t> relationships between contours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E87CA8-F44B-4C71-A197-BE17871C6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701" y="5293393"/>
            <a:ext cx="5982535" cy="7335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1EAD66-8B04-4945-BE2D-F0CACC134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3408" y="1809617"/>
            <a:ext cx="4601312" cy="348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516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A4F20-023D-4D2E-A643-8E92038CC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Step 6 - Contour Detection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3BFC6-D62C-4C6A-9876-1F228E82C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881036" cy="4023360"/>
          </a:xfrm>
        </p:spPr>
        <p:txBody>
          <a:bodyPr/>
          <a:lstStyle/>
          <a:p>
            <a:r>
              <a:rPr lang="en-US" b="1" dirty="0"/>
              <a:t>Document Selection Logic</a:t>
            </a:r>
          </a:p>
          <a:p>
            <a:pPr lvl="1"/>
            <a:r>
              <a:rPr lang="en-US" b="1" dirty="0"/>
              <a:t>Find all contours</a:t>
            </a:r>
            <a:endParaRPr lang="en-US" dirty="0"/>
          </a:p>
          <a:p>
            <a:pPr lvl="1"/>
            <a:r>
              <a:rPr lang="en-US" b="1" dirty="0"/>
              <a:t>Sort by area</a:t>
            </a:r>
            <a:r>
              <a:rPr lang="en-US" dirty="0"/>
              <a:t> (largest first)</a:t>
            </a:r>
          </a:p>
          <a:p>
            <a:pPr lvl="1"/>
            <a:r>
              <a:rPr lang="en-US" b="1" dirty="0"/>
              <a:t>Approximate shape</a:t>
            </a:r>
            <a:endParaRPr lang="en-US" dirty="0"/>
          </a:p>
          <a:p>
            <a:pPr lvl="1"/>
            <a:r>
              <a:rPr lang="en-US" b="1" dirty="0"/>
              <a:t>Select first quadrilateral</a:t>
            </a:r>
            <a:r>
              <a:rPr lang="en-US" dirty="0"/>
              <a:t> (4 points = likely document)</a:t>
            </a:r>
          </a:p>
          <a:p>
            <a:r>
              <a:rPr lang="en-US" b="1" dirty="0"/>
              <a:t>Smart approach</a:t>
            </a:r>
            <a:r>
              <a:rPr lang="en-US" dirty="0"/>
              <a:t>: Assumes document is the largest quadrilateral!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008094-6292-4F06-8AA0-7C8616A2E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244" y="1845734"/>
            <a:ext cx="4668542" cy="3534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332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50007-3719-4DEF-A606-DBF8C5C75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7 - Perspective Correction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4194E-CB9A-4556-AA17-94E0D6DDB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Challenge</a:t>
            </a:r>
          </a:p>
          <a:p>
            <a:pPr lvl="1"/>
            <a:r>
              <a:rPr lang="en-US" b="1" dirty="0"/>
              <a:t>Perspective distortion</a:t>
            </a:r>
            <a:r>
              <a:rPr lang="en-US" dirty="0"/>
              <a:t> from angled photos</a:t>
            </a:r>
          </a:p>
          <a:p>
            <a:pPr lvl="1"/>
            <a:r>
              <a:rPr lang="en-US" b="1" dirty="0"/>
              <a:t>Keystone effect</a:t>
            </a:r>
            <a:r>
              <a:rPr lang="en-US" dirty="0"/>
              <a:t> - converging lines</a:t>
            </a:r>
          </a:p>
          <a:p>
            <a:pPr lvl="1"/>
            <a:r>
              <a:rPr lang="en-US" b="1" dirty="0"/>
              <a:t>Document appears trapezoidal</a:t>
            </a:r>
            <a:r>
              <a:rPr lang="en-US" dirty="0"/>
              <a:t>, not rectangular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E36B41-9692-44D8-BB5A-C146D99E5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834" y="3429000"/>
            <a:ext cx="3629532" cy="16671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CF8381-DAEE-46EC-B70B-B702C5A95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958" y="2104091"/>
            <a:ext cx="4799970" cy="363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679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50007-3719-4DEF-A606-DBF8C5C75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7 - Perspective Correction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4194E-CB9A-4556-AA17-94E0D6DDB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The Math Behind It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Order Points: TL, TR, BR, BL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Calculate Dimensions:</a:t>
            </a:r>
          </a:p>
          <a:p>
            <a:pPr lvl="1"/>
            <a:r>
              <a:rPr lang="en-US" b="1" dirty="0"/>
              <a:t>width = max(distance(TR, TL), distance(BR, BL))</a:t>
            </a:r>
          </a:p>
          <a:p>
            <a:pPr lvl="1"/>
            <a:r>
              <a:rPr lang="en-US" b="1" dirty="0"/>
              <a:t>height = max(distance(BR, TR), distance(BL, TL))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Perspective Matrix: 3×3 transformation matrix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Warping: Apply matrix to all pixels</a:t>
            </a:r>
          </a:p>
          <a:p>
            <a:pPr marL="457200" indent="-457200">
              <a:buFont typeface="+mj-lt"/>
              <a:buAutoNum type="arabicPeriod"/>
            </a:pP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E36B41-9692-44D8-BB5A-C146D99E5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7202" y="1953127"/>
            <a:ext cx="3629532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675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50007-3719-4DEF-A606-DBF8C5C75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7 - Perspective Correction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4194E-CB9A-4556-AA17-94E0D6DDB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Visual Transformation</a:t>
            </a:r>
            <a:endParaRPr lang="en-US" sz="32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0C9AF55-C01D-47D0-B96E-6B407889B0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3332996"/>
              </p:ext>
            </p:extLst>
          </p:nvPr>
        </p:nvGraphicFramePr>
        <p:xfrm>
          <a:off x="894349" y="2641415"/>
          <a:ext cx="5724838" cy="1889760"/>
        </p:xfrm>
        <a:graphic>
          <a:graphicData uri="http://schemas.openxmlformats.org/drawingml/2006/table">
            <a:tbl>
              <a:tblPr>
                <a:tableStyleId>{37CE84F3-28C3-443E-9E96-99CF82512B78}</a:tableStyleId>
              </a:tblPr>
              <a:tblGrid>
                <a:gridCol w="2603499">
                  <a:extLst>
                    <a:ext uri="{9D8B030D-6E8A-4147-A177-3AD203B41FA5}">
                      <a16:colId xmlns:a16="http://schemas.microsoft.com/office/drawing/2014/main" val="450900650"/>
                    </a:ext>
                  </a:extLst>
                </a:gridCol>
                <a:gridCol w="3121339">
                  <a:extLst>
                    <a:ext uri="{9D8B030D-6E8A-4147-A177-3AD203B41FA5}">
                      <a16:colId xmlns:a16="http://schemas.microsoft.com/office/drawing/2014/main" val="19323921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effectLst/>
                        </a:rPr>
                        <a:t>Original (Distorted)</a:t>
                      </a:r>
                      <a:endParaRPr lang="en-US" sz="2000" b="1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</a:rPr>
                        <a:t>Corrected (Top-Down)</a:t>
                      </a:r>
                      <a:endParaRPr lang="en-US" sz="20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671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Angled view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Straight view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8110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Trapezoidal shape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Rectangular shape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1218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Size varies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Uniform scaling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779540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95C8A821-D72A-4AA1-8CBD-ECD7DD8037E8}"/>
              </a:ext>
            </a:extLst>
          </p:cNvPr>
          <p:cNvSpPr/>
          <p:nvPr/>
        </p:nvSpPr>
        <p:spPr>
          <a:xfrm>
            <a:off x="1323222" y="5530242"/>
            <a:ext cx="51259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Result</a:t>
            </a:r>
            <a:r>
              <a:rPr lang="en-US" dirty="0"/>
              <a:t>: Perfect rectangular document ready for OCR!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3C42C2-B4DE-46A2-8BD5-9399C7FFB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9911" y="1954107"/>
            <a:ext cx="4102132" cy="4023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7990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95CCB-F97C-4B12-83AA-FE0AAB31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8 - OCR with Tesseract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6B9E9-31D6-4953-80B6-EB393D7EE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Tesseract OCR Engine</a:t>
            </a:r>
          </a:p>
          <a:p>
            <a:pPr lvl="1"/>
            <a:r>
              <a:rPr lang="en-US" b="1" dirty="0"/>
              <a:t>Open-source</a:t>
            </a:r>
            <a:r>
              <a:rPr lang="en-US" dirty="0"/>
              <a:t> OCR engine by Google</a:t>
            </a:r>
          </a:p>
          <a:p>
            <a:pPr lvl="1"/>
            <a:r>
              <a:rPr lang="en-US" b="1" dirty="0"/>
              <a:t>Supports</a:t>
            </a:r>
            <a:r>
              <a:rPr lang="en-US" dirty="0"/>
              <a:t> 100+ languages</a:t>
            </a:r>
          </a:p>
          <a:p>
            <a:pPr lvl="1"/>
            <a:r>
              <a:rPr lang="en-US" b="1" dirty="0"/>
              <a:t>Trained</a:t>
            </a:r>
            <a:r>
              <a:rPr lang="en-US" dirty="0"/>
              <a:t> on various fonts and styles</a:t>
            </a:r>
          </a:p>
          <a:p>
            <a:pPr lvl="1"/>
            <a:endParaRPr lang="en-US" dirty="0"/>
          </a:p>
          <a:p>
            <a:r>
              <a:rPr lang="en-US" b="1" dirty="0"/>
              <a:t>Tesseract's Internal Pipeline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US" b="1" dirty="0"/>
              <a:t>Page Layout Analysis</a:t>
            </a:r>
            <a:r>
              <a:rPr lang="en-US" dirty="0"/>
              <a:t> - Identifies text blocks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US" b="1" dirty="0"/>
              <a:t>Line Detection</a:t>
            </a:r>
            <a:r>
              <a:rPr lang="en-US" dirty="0"/>
              <a:t> - Finds text lines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US" b="1" dirty="0"/>
              <a:t>Word Segmentation</a:t>
            </a:r>
            <a:r>
              <a:rPr lang="en-US" dirty="0"/>
              <a:t> - Separates words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US" b="1" dirty="0"/>
              <a:t>Character Recognition</a:t>
            </a:r>
            <a:r>
              <a:rPr lang="en-US" dirty="0"/>
              <a:t> - Identifies characters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US" b="1" dirty="0"/>
              <a:t>Language Modeling</a:t>
            </a:r>
            <a:r>
              <a:rPr lang="en-US" dirty="0"/>
              <a:t> - Contextual correction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26AF3D-A7E8-4530-AF2F-987827B23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791" y="2055404"/>
            <a:ext cx="4305901" cy="10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1188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F3530-F949-4BB5-AD89-220F2DB06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8AE6F-39F9-402A-A7B0-A1593F972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6732270" cy="4023360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1. Shadow Removal and Lighting Correction</a:t>
            </a:r>
          </a:p>
          <a:p>
            <a:pPr lvl="1"/>
            <a:r>
              <a:rPr lang="en-US" b="1" dirty="0"/>
              <a:t>(Advanced):</a:t>
            </a:r>
            <a:r>
              <a:rPr lang="en-US" dirty="0"/>
              <a:t> Uses </a:t>
            </a:r>
            <a:r>
              <a:rPr lang="en-US" b="1" dirty="0"/>
              <a:t>Morphological Transformation</a:t>
            </a:r>
            <a:r>
              <a:rPr lang="en-US" dirty="0"/>
              <a:t> (dilation and median blur) on individual RGB channels to estimate the background lighting. It then subtracts that background to effectively "erase" shadows.</a:t>
            </a:r>
          </a:p>
          <a:p>
            <a:pPr lvl="1"/>
            <a:r>
              <a:rPr lang="en-US" b="1" dirty="0"/>
              <a:t>(Basic):</a:t>
            </a:r>
            <a:r>
              <a:rPr lang="en-US" dirty="0"/>
              <a:t> Does nothing to remove shadows. It assumes the lighting is uniform, which often results in large black blobs in the OCR output if a shadow is present.</a:t>
            </a:r>
          </a:p>
          <a:p>
            <a:r>
              <a:rPr lang="en-US" b="1" dirty="0"/>
              <a:t>2. Denoising and Edge Preservation</a:t>
            </a:r>
          </a:p>
          <a:p>
            <a:pPr lvl="1"/>
            <a:r>
              <a:rPr lang="en-US" b="1" dirty="0"/>
              <a:t>(Advanced):</a:t>
            </a:r>
            <a:r>
              <a:rPr lang="en-US" dirty="0"/>
              <a:t> Implements a </a:t>
            </a:r>
            <a:r>
              <a:rPr lang="en-US" b="1" dirty="0"/>
              <a:t>Bilateral Filter</a:t>
            </a:r>
            <a:r>
              <a:rPr lang="en-US" dirty="0"/>
              <a:t>. This is crucial for handwriting because it removes "noise" (graininess) while keeping the edges of the pen strokes sharp.</a:t>
            </a:r>
          </a:p>
          <a:p>
            <a:pPr lvl="1"/>
            <a:r>
              <a:rPr lang="en-US" b="1" dirty="0"/>
              <a:t>(Basic):</a:t>
            </a:r>
            <a:r>
              <a:rPr lang="en-US" dirty="0"/>
              <a:t> Uses a standard </a:t>
            </a:r>
            <a:r>
              <a:rPr lang="en-US" b="1" dirty="0"/>
              <a:t>Gaussian Blur</a:t>
            </a:r>
            <a:r>
              <a:rPr lang="en-US" dirty="0"/>
              <a:t>. This is a "blind" blur that can smudge thin handwriting, making it harder for Tesseract to read.</a:t>
            </a:r>
          </a:p>
          <a:p>
            <a:r>
              <a:rPr lang="en-US" b="1" dirty="0"/>
              <a:t>3. Contrast Enhancement</a:t>
            </a:r>
          </a:p>
          <a:p>
            <a:pPr lvl="1"/>
            <a:r>
              <a:rPr lang="en-US" b="1" dirty="0"/>
              <a:t>(Advanced):</a:t>
            </a:r>
            <a:r>
              <a:rPr lang="en-US" dirty="0"/>
              <a:t> Adds </a:t>
            </a:r>
            <a:r>
              <a:rPr lang="en-US" b="1" dirty="0"/>
              <a:t>CLAHE (Contrast Limited Adaptive Histogram Equalization)</a:t>
            </a:r>
            <a:r>
              <a:rPr lang="en-US" dirty="0"/>
              <a:t>. This "pops" faint text by increasing contrast in small local regions of the image.</a:t>
            </a:r>
          </a:p>
          <a:p>
            <a:pPr lvl="1"/>
            <a:r>
              <a:rPr lang="en-US" b="1" dirty="0"/>
              <a:t>(Basic):</a:t>
            </a:r>
            <a:r>
              <a:rPr lang="en-US" dirty="0"/>
              <a:t> Does not enhance contrast; it moves straight from grayscale to thresholding.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8736DE-FAFD-48B0-851A-46959E0F6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0" y="2043112"/>
            <a:ext cx="3838574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056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98F8F0-BBE2-4CE3-936E-8DC7525E48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OCR Measurements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8E7D83-D035-451F-8016-72B3033AC0C0}"/>
              </a:ext>
            </a:extLst>
          </p:cNvPr>
          <p:cNvSpPr/>
          <p:nvPr/>
        </p:nvSpPr>
        <p:spPr>
          <a:xfrm>
            <a:off x="2879557" y="4453372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2000" dirty="0"/>
              <a:t>Evaluating Optical Character Recognition Performance</a:t>
            </a:r>
          </a:p>
          <a:p>
            <a:pPr algn="ctr"/>
            <a:r>
              <a:rPr lang="en-US" sz="2000" dirty="0"/>
              <a:t>Word Accuracy &amp; Word Error Rate (WER)</a:t>
            </a:r>
          </a:p>
        </p:txBody>
      </p:sp>
    </p:spTree>
    <p:extLst>
      <p:ext uri="{BB962C8B-B14F-4D97-AF65-F5344CB8AC3E}">
        <p14:creationId xmlns:p14="http://schemas.microsoft.com/office/powerpoint/2010/main" val="28040296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Measure OCR Accuracy?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Quantify OCR performance objectively</a:t>
            </a:r>
          </a:p>
          <a:p>
            <a:r>
              <a:rPr dirty="0"/>
              <a:t>- Compare preprocessing techniques</a:t>
            </a:r>
          </a:p>
          <a:p>
            <a:r>
              <a:rPr dirty="0"/>
              <a:t>- Validate research results</a:t>
            </a:r>
          </a:p>
          <a:p>
            <a:r>
              <a:rPr lang="en-US" b="1" dirty="0"/>
              <a:t>Ground Truth </a:t>
            </a:r>
            <a:r>
              <a:rPr lang="en-US" b="1" dirty="0" err="1"/>
              <a:t>Text:</a:t>
            </a:r>
            <a:r>
              <a:rPr lang="en-US" dirty="0" err="1"/>
              <a:t>Used</a:t>
            </a:r>
            <a:r>
              <a:rPr lang="en-US" dirty="0"/>
              <a:t> as baseline for comparison</a:t>
            </a:r>
          </a:p>
          <a:p>
            <a:endParaRPr lang="en-US" b="1" dirty="0"/>
          </a:p>
          <a:p>
            <a:endParaRPr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7C8B2A0-2B37-4B8C-B06B-B532403C8463}"/>
              </a:ext>
            </a:extLst>
          </p:cNvPr>
          <p:cNvSpPr/>
          <p:nvPr/>
        </p:nvSpPr>
        <p:spPr>
          <a:xfrm>
            <a:off x="1588168" y="4243137"/>
            <a:ext cx="2286000" cy="105075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Word Accuracy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B9DBC3E-46E2-4DCE-8573-58B005AD90A0}"/>
              </a:ext>
            </a:extLst>
          </p:cNvPr>
          <p:cNvSpPr/>
          <p:nvPr/>
        </p:nvSpPr>
        <p:spPr>
          <a:xfrm>
            <a:off x="6448124" y="4275221"/>
            <a:ext cx="2286000" cy="105075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Word Error Rate (WER) Accuracy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50237" y="287338"/>
            <a:ext cx="10058400" cy="1449387"/>
          </a:xfrm>
        </p:spPr>
        <p:txBody>
          <a:bodyPr/>
          <a:lstStyle/>
          <a:p>
            <a:r>
              <a:rPr dirty="0">
                <a:solidFill>
                  <a:srgbClr val="0070C0"/>
                </a:solidFill>
              </a:rPr>
              <a:t>Word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50237" y="1846263"/>
            <a:ext cx="10058400" cy="4022725"/>
          </a:xfrm>
        </p:spPr>
        <p:txBody>
          <a:bodyPr/>
          <a:lstStyle/>
          <a:p>
            <a:r>
              <a:rPr dirty="0"/>
              <a:t>Measures how many words are correctly recognized</a:t>
            </a:r>
          </a:p>
          <a:p>
            <a:pPr algn="ctr"/>
            <a:r>
              <a:rPr sz="2400" b="1" dirty="0"/>
              <a:t>Formula:</a:t>
            </a:r>
            <a:r>
              <a:rPr lang="en-US" sz="2400" b="1" dirty="0"/>
              <a:t> </a:t>
            </a:r>
          </a:p>
          <a:p>
            <a:pPr algn="ctr"/>
            <a:r>
              <a:rPr lang="en-US" sz="2400" b="1" dirty="0"/>
              <a:t> </a:t>
            </a:r>
            <a:r>
              <a:rPr sz="2400" b="1" dirty="0"/>
              <a:t>Word Accuracy = Correct Words / Total Ground Truth Words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908DA89-9DBF-44D0-9A87-FFDE5005BEAF}"/>
              </a:ext>
            </a:extLst>
          </p:cNvPr>
          <p:cNvSpPr txBox="1">
            <a:spLocks/>
          </p:cNvSpPr>
          <p:nvPr/>
        </p:nvSpPr>
        <p:spPr>
          <a:xfrm>
            <a:off x="850237" y="2567011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70C0"/>
                </a:solidFill>
              </a:rPr>
              <a:t>Word Error Rate (WER)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A7E1C4-950A-4440-85B9-DD1F154E54DD}"/>
              </a:ext>
            </a:extLst>
          </p:cNvPr>
          <p:cNvSpPr/>
          <p:nvPr/>
        </p:nvSpPr>
        <p:spPr>
          <a:xfrm>
            <a:off x="1065195" y="3857414"/>
            <a:ext cx="10404909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Formula:</a:t>
            </a:r>
          </a:p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WER = (S + D + I) / N</a:t>
            </a: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Lower WER = Better OCR performance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86060EA-3A08-46EC-86A4-5193C80AD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642" y="4703800"/>
            <a:ext cx="421140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Substitutions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Deletions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Insertions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Number of words in ground truth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622AD-C5EE-4071-9001-67CB1544D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error rate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BE6C50A-386A-4679-8A0F-6004566A75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883864"/>
            <a:ext cx="9554678" cy="4416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WER answers: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“How many edits are needed to convert OCR output into the correct text?”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800" b="1" dirty="0">
                <a:solidFill>
                  <a:srgbClr val="0070C0"/>
                </a:solidFill>
              </a:rPr>
              <a:t>The Three Types of Errors in WER: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/>
              <a:t>Substitution (S):</a:t>
            </a:r>
            <a:r>
              <a:rPr lang="en-US" sz="1600" dirty="0"/>
              <a:t>A </a:t>
            </a:r>
            <a:r>
              <a:rPr lang="en-US" sz="1600" b="1" dirty="0"/>
              <a:t>wrong word replaces a correct one</a:t>
            </a:r>
            <a:r>
              <a:rPr lang="en-US" sz="1600" dirty="0"/>
              <a:t>.</a:t>
            </a:r>
          </a:p>
          <a:p>
            <a:pPr lvl="2"/>
            <a:r>
              <a:rPr lang="en-US" dirty="0"/>
              <a:t>Ground Truth:  this is </a:t>
            </a:r>
            <a:r>
              <a:rPr lang="en-US" dirty="0">
                <a:solidFill>
                  <a:srgbClr val="C00000"/>
                </a:solidFill>
              </a:rPr>
              <a:t>a</a:t>
            </a:r>
            <a:r>
              <a:rPr lang="en-US" dirty="0"/>
              <a:t> document</a:t>
            </a:r>
          </a:p>
          <a:p>
            <a:pPr lvl="2"/>
            <a:r>
              <a:rPr lang="en-US" dirty="0"/>
              <a:t>OCR Output:   this is </a:t>
            </a:r>
            <a:r>
              <a:rPr lang="en-US" dirty="0">
                <a:solidFill>
                  <a:srgbClr val="C00000"/>
                </a:solidFill>
              </a:rPr>
              <a:t>the</a:t>
            </a:r>
            <a:r>
              <a:rPr lang="en-US" dirty="0"/>
              <a:t> document</a:t>
            </a:r>
          </a:p>
          <a:p>
            <a:pPr lvl="2"/>
            <a:r>
              <a:rPr lang="en-US" dirty="0"/>
              <a:t>We have 1 substitution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/>
              <a:t>Deletion (D): </a:t>
            </a:r>
            <a:r>
              <a:rPr lang="en-US" sz="1600" dirty="0"/>
              <a:t>A </a:t>
            </a:r>
            <a:r>
              <a:rPr lang="en-US" sz="1600" b="1" dirty="0"/>
              <a:t>word is missing</a:t>
            </a:r>
            <a:r>
              <a:rPr lang="en-US" sz="1600" dirty="0"/>
              <a:t> in OCR output.</a:t>
            </a:r>
          </a:p>
          <a:p>
            <a:pPr marL="635508" lvl="1" indent="-342900"/>
            <a:r>
              <a:rPr lang="en-US" sz="1600" dirty="0"/>
              <a:t>Ground Truth:  this is </a:t>
            </a:r>
            <a:r>
              <a:rPr lang="en-US" sz="1600" dirty="0">
                <a:solidFill>
                  <a:srgbClr val="C00000"/>
                </a:solidFill>
              </a:rPr>
              <a:t>a</a:t>
            </a:r>
            <a:r>
              <a:rPr lang="en-US" sz="1600" dirty="0"/>
              <a:t> document</a:t>
            </a:r>
          </a:p>
          <a:p>
            <a:pPr marL="635508" lvl="1" indent="-342900"/>
            <a:r>
              <a:rPr lang="en-US" sz="1600" dirty="0"/>
              <a:t>OCR Output:   this is document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 Insertion (I): </a:t>
            </a:r>
            <a:r>
              <a:rPr lang="en-US" sz="1800" dirty="0"/>
              <a:t>An </a:t>
            </a:r>
            <a:r>
              <a:rPr lang="en-US" sz="1800" b="1" dirty="0"/>
              <a:t>extra word</a:t>
            </a:r>
            <a:r>
              <a:rPr lang="en-US" sz="1800" dirty="0"/>
              <a:t> appears in OCR output.</a:t>
            </a:r>
          </a:p>
          <a:p>
            <a:pPr marL="635508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/>
              <a:t>Ground Truth:  this is a document</a:t>
            </a:r>
          </a:p>
          <a:p>
            <a:pPr marL="635508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/>
              <a:t>OCR Output:   this is a </a:t>
            </a:r>
            <a:r>
              <a:rPr lang="en-US" altLang="en-US" sz="1600" dirty="0">
                <a:solidFill>
                  <a:srgbClr val="C00000"/>
                </a:solidFill>
              </a:rPr>
              <a:t>scanned</a:t>
            </a:r>
            <a:r>
              <a:rPr lang="en-US" altLang="en-US" sz="1600" dirty="0"/>
              <a:t> document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A239AB7-5D0E-471D-A3D2-9C8D76664C03}"/>
              </a:ext>
            </a:extLst>
          </p:cNvPr>
          <p:cNvSpPr/>
          <p:nvPr/>
        </p:nvSpPr>
        <p:spPr>
          <a:xfrm>
            <a:off x="8398041" y="3240505"/>
            <a:ext cx="3344779" cy="23822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Note: Text Normalization will  be needed:</a:t>
            </a:r>
          </a:p>
          <a:p>
            <a:r>
              <a:rPr lang="en-US" dirty="0"/>
              <a:t>- Convert to lowercase</a:t>
            </a:r>
          </a:p>
          <a:p>
            <a:r>
              <a:rPr lang="en-US" dirty="0"/>
              <a:t>- Remove punctuation</a:t>
            </a:r>
          </a:p>
          <a:p>
            <a:r>
              <a:rPr lang="en-US" dirty="0"/>
              <a:t>- Normalize whitespace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3019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98F8F0-BBE2-4CE3-936E-8DC7525E48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C79F4E-44CF-4D20-9581-171C1482E507}"/>
              </a:ext>
            </a:extLst>
          </p:cNvPr>
          <p:cNvSpPr txBox="1"/>
          <p:nvPr/>
        </p:nvSpPr>
        <p:spPr>
          <a:xfrm>
            <a:off x="1097280" y="4848225"/>
            <a:ext cx="1853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Our Ground Truth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1A982B-5E3F-4BF5-91FF-C46B0AF42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547" y="4603158"/>
            <a:ext cx="2146152" cy="752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9502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46139-2FE9-45FC-AD58-BE0B0FD68D2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66800" y="1979613"/>
            <a:ext cx="10058400" cy="1449387"/>
          </a:xfrm>
        </p:spPr>
        <p:txBody>
          <a:bodyPr/>
          <a:lstStyle/>
          <a:p>
            <a:r>
              <a:rPr lang="en-US" dirty="0"/>
              <a:t>Email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6AB318C-8930-4CCC-A28A-4C710D09144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4327525" y="61912"/>
            <a:ext cx="6673850" cy="610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313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46139-2FE9-45FC-AD58-BE0B0FD68D2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66800" y="1979613"/>
            <a:ext cx="10058400" cy="1449387"/>
          </a:xfrm>
        </p:spPr>
        <p:txBody>
          <a:bodyPr/>
          <a:lstStyle/>
          <a:p>
            <a:r>
              <a:rPr lang="en-US" dirty="0"/>
              <a:t>Email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0957A7-676E-4C1F-A87B-A52D60033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341" y="605589"/>
            <a:ext cx="8756254" cy="5646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1506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46139-2FE9-45FC-AD58-BE0B0FD68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Email: Before enhancement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46073A0-933D-432F-9368-021A6939A7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9798"/>
          <a:stretch/>
        </p:blipFill>
        <p:spPr>
          <a:xfrm>
            <a:off x="6905254" y="1880202"/>
            <a:ext cx="4660256" cy="37128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CB29F4-720A-40C4-869F-13BC71AD1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490" y="1880203"/>
            <a:ext cx="5260814" cy="37128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F92B223-9F20-4B6A-96C5-0277787EE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5190" y="5773961"/>
            <a:ext cx="2648320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5921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46139-2FE9-45FC-AD58-BE0B0FD68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Email: After enhancement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CB29F4-720A-40C4-869F-13BC71AD1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90" y="1880203"/>
            <a:ext cx="4888485" cy="3712818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F33D7E9-5F22-4E63-A34A-4222FAE07F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84529" y="1899251"/>
            <a:ext cx="5112145" cy="36634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510F06-6995-4095-B2F8-2BFB7571EB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8546" y="5724630"/>
            <a:ext cx="2210108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251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46139-2FE9-45FC-AD58-BE0B0FD68D2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14325" y="1979613"/>
            <a:ext cx="10058400" cy="1449387"/>
          </a:xfrm>
        </p:spPr>
        <p:txBody>
          <a:bodyPr/>
          <a:lstStyle/>
          <a:p>
            <a:r>
              <a:rPr lang="en-US" dirty="0"/>
              <a:t>Letter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D3F258-9F07-4073-B311-5FD6E4800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481" y="361950"/>
            <a:ext cx="9540050" cy="531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7064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46139-2FE9-45FC-AD58-BE0B0FD68D2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66800" y="1979613"/>
            <a:ext cx="10058400" cy="1449387"/>
          </a:xfrm>
        </p:spPr>
        <p:txBody>
          <a:bodyPr/>
          <a:lstStyle/>
          <a:p>
            <a:r>
              <a:rPr lang="en-US" dirty="0"/>
              <a:t>Letter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92C0DD-A358-4DE1-AFAD-74FD6D88D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4803" y="404437"/>
            <a:ext cx="3765222" cy="503485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4B6D519-D44E-4A31-B950-F275D3FD9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5244" y="404437"/>
            <a:ext cx="3927102" cy="51354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C86AD1-7CEB-4756-A714-0007CE9BEDEB}"/>
              </a:ext>
            </a:extLst>
          </p:cNvPr>
          <p:cNvSpPr txBox="1"/>
          <p:nvPr/>
        </p:nvSpPr>
        <p:spPr>
          <a:xfrm>
            <a:off x="4295775" y="85725"/>
            <a:ext cx="1445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Ground Truth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DDEC45-3F6A-4C7C-94B9-82C8120C6A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4386" y="5587062"/>
            <a:ext cx="2524477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4882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F6F32D-E3CB-40C4-9CF5-9C0F12F6C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498" y="522377"/>
            <a:ext cx="8677903" cy="48020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D4392E-9C41-4CB5-9191-A5996F2054E4}"/>
              </a:ext>
            </a:extLst>
          </p:cNvPr>
          <p:cNvSpPr txBox="1"/>
          <p:nvPr/>
        </p:nvSpPr>
        <p:spPr>
          <a:xfrm>
            <a:off x="442599" y="2554094"/>
            <a:ext cx="2443476" cy="620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</a:pPr>
            <a:r>
              <a:rPr lang="en-US" sz="40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Screenshot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6BF771-551B-4498-A8C4-060E23311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" y="3995600"/>
            <a:ext cx="2372056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0148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46139-2FE9-45FC-AD58-BE0B0FD68D2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66800" y="1979613"/>
            <a:ext cx="10058400" cy="1449387"/>
          </a:xfrm>
        </p:spPr>
        <p:txBody>
          <a:bodyPr/>
          <a:lstStyle/>
          <a:p>
            <a:r>
              <a:rPr lang="en-US" dirty="0"/>
              <a:t>Hand</a:t>
            </a:r>
            <a:br>
              <a:rPr lang="en-US" dirty="0"/>
            </a:br>
            <a:r>
              <a:rPr lang="en-US" dirty="0"/>
              <a:t>Written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1F0D55-24AB-41DF-86AD-B6CA93F24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967" y="666187"/>
            <a:ext cx="8288517" cy="45635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287108-1671-40A7-9363-66146C47F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72" y="4559410"/>
            <a:ext cx="2305372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99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46139-2FE9-45FC-AD58-BE0B0FD68D2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14325" y="1979613"/>
            <a:ext cx="10058400" cy="1449387"/>
          </a:xfrm>
        </p:spPr>
        <p:txBody>
          <a:bodyPr/>
          <a:lstStyle/>
          <a:p>
            <a:r>
              <a:rPr lang="en-US" dirty="0"/>
              <a:t>News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1BEC55-D974-40A8-B09D-5B43958685B0}"/>
              </a:ext>
            </a:extLst>
          </p:cNvPr>
          <p:cNvSpPr txBox="1"/>
          <p:nvPr/>
        </p:nvSpPr>
        <p:spPr>
          <a:xfrm>
            <a:off x="590550" y="266522"/>
            <a:ext cx="4987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One of the weakness point I found for future 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A6C7AD-4687-4E75-B30B-423BA50F3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038" y="759857"/>
            <a:ext cx="10089987" cy="54622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81D6D1-62FF-4654-963D-DF6F29BE5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205" y="4501678"/>
            <a:ext cx="2381582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0858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A338D-2088-4572-8DF0-0BC7F0AF2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 of weakness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19218-8A8C-4261-BEA1-B891A0F92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classic challenge in OCR: </a:t>
            </a:r>
            <a:r>
              <a:rPr lang="en-US" dirty="0"/>
              <a:t>it sees the document as a single "block" of text rather than a</a:t>
            </a:r>
            <a:r>
              <a:rPr lang="en-US" b="1" dirty="0"/>
              <a:t> multi-column layout</a:t>
            </a:r>
            <a:r>
              <a:rPr lang="en-US" dirty="0"/>
              <a:t>. When Tesseract reads line-by-line across columns, it mixes sentences together, destroying the meaning of the document.</a:t>
            </a:r>
          </a:p>
          <a:p>
            <a:pPr>
              <a:lnSpc>
                <a:spcPct val="150000"/>
              </a:lnSpc>
            </a:pPr>
            <a:r>
              <a:rPr lang="en-US" dirty="0"/>
              <a:t>To solve the weaknesses you identified, we need to implement </a:t>
            </a:r>
            <a:r>
              <a:rPr lang="en-US" b="1" dirty="0"/>
              <a:t>Layout Analysis</a:t>
            </a:r>
            <a:r>
              <a:rPr lang="en-US" dirty="0"/>
              <a:t> (also known as Document AI or Region Segmentation).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9394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C23EA-C1F1-46AA-B0FB-534441978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Future Work &amp; Scalability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5969B-405F-427F-AE74-7C6721465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move this from a "scanner" to a "document intelligence tool," the following modules are recommended:</a:t>
            </a:r>
          </a:p>
          <a:p>
            <a:pPr lvl="1"/>
            <a:r>
              <a:rPr lang="en-US" b="1" dirty="0"/>
              <a:t>Region of Interest (ROI) Detection:</a:t>
            </a:r>
            <a:r>
              <a:rPr lang="en-US" dirty="0"/>
              <a:t> Integrating a deep-learning layout analyzer to identify columns, headers, and images separately.</a:t>
            </a:r>
          </a:p>
          <a:p>
            <a:pPr lvl="1"/>
            <a:r>
              <a:rPr lang="en-US" b="1" dirty="0"/>
              <a:t>Handwriting Specialization:</a:t>
            </a:r>
            <a:r>
              <a:rPr lang="en-US" dirty="0"/>
              <a:t> Swapping the general Tesseract engine for a model trained specifically on cursive and handwritten scripts for medical or archival forms.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AB2C2B-9AB3-4C09-AB91-C9A10E519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0080" y="3680594"/>
            <a:ext cx="1879457" cy="23256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3B569E-0D02-462E-A177-C14255285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8849" y="3671182"/>
            <a:ext cx="1643196" cy="2165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AAF3D3-16B7-4E3C-9CD7-F7B899B344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1677" y="3671182"/>
            <a:ext cx="1738771" cy="230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8099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98F8F0-BBE2-4CE3-936E-8DC7525E48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4401785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611</TotalTime>
  <Words>1766</Words>
  <Application>Microsoft Office PowerPoint</Application>
  <PresentationFormat>Widescreen</PresentationFormat>
  <Paragraphs>223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Calibri</vt:lpstr>
      <vt:lpstr>Calibri Light</vt:lpstr>
      <vt:lpstr>quote-cjk-patch</vt:lpstr>
      <vt:lpstr>Wingdings</vt:lpstr>
      <vt:lpstr>Retrospect</vt:lpstr>
      <vt:lpstr>Document Scanner  Using Classical Image Processing and OCR</vt:lpstr>
      <vt:lpstr>Document Scanner</vt:lpstr>
      <vt:lpstr>Data set</vt:lpstr>
      <vt:lpstr>Data set</vt:lpstr>
      <vt:lpstr>Complete Pipeline 8-Step Process</vt:lpstr>
      <vt:lpstr> Step 1 - Image Loading &amp; Color Conversion</vt:lpstr>
      <vt:lpstr>Step2- CLAHE (Contrast Limited Adaptive Histogram Equalization):</vt:lpstr>
      <vt:lpstr>Step2- CLAHE (Contrast Limited Adaptive Histogram Equalization):</vt:lpstr>
      <vt:lpstr>   Step 3 - Noise Removal (Gaussian Blur) </vt:lpstr>
      <vt:lpstr> Step 4 - Morphological Operations</vt:lpstr>
      <vt:lpstr> Step 4 - Morphological Operations</vt:lpstr>
      <vt:lpstr>Step 4 - Edge Detection (Canny Algorithm)</vt:lpstr>
      <vt:lpstr>Step4- Canny edge detection (Finding Intensity Gradients)</vt:lpstr>
      <vt:lpstr>Canny edge detection (Non-Maximum Suppression)</vt:lpstr>
      <vt:lpstr>  Canny edge detection (Hysteresis Thresholding)</vt:lpstr>
      <vt:lpstr>  Canny edge detection (Hysteresis Thresholding)</vt:lpstr>
      <vt:lpstr>Step 4 - Edge Detection (Canny Algorithm)</vt:lpstr>
      <vt:lpstr> Step 6 - Contour Detection</vt:lpstr>
      <vt:lpstr> Step 6 - Contour Detection</vt:lpstr>
      <vt:lpstr>Step 7 - Perspective Correction</vt:lpstr>
      <vt:lpstr>Step 7 - Perspective Correction</vt:lpstr>
      <vt:lpstr>Step 7 - Perspective Correction</vt:lpstr>
      <vt:lpstr>Step 8 - OCR with Tesseract</vt:lpstr>
      <vt:lpstr>Contribution</vt:lpstr>
      <vt:lpstr>OCR Measurements</vt:lpstr>
      <vt:lpstr>Why Measure OCR Accuracy?</vt:lpstr>
      <vt:lpstr>Word Accuracy</vt:lpstr>
      <vt:lpstr>Word error rate</vt:lpstr>
      <vt:lpstr>Testing</vt:lpstr>
      <vt:lpstr>Email</vt:lpstr>
      <vt:lpstr>Email</vt:lpstr>
      <vt:lpstr>Email: Before enhancement</vt:lpstr>
      <vt:lpstr>Email: After enhancement</vt:lpstr>
      <vt:lpstr>Letter</vt:lpstr>
      <vt:lpstr>Letter</vt:lpstr>
      <vt:lpstr>PowerPoint Presentation</vt:lpstr>
      <vt:lpstr>Hand Written</vt:lpstr>
      <vt:lpstr>News</vt:lpstr>
      <vt:lpstr>Point of weakness </vt:lpstr>
      <vt:lpstr>Future Work &amp; Scalability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 Scanner</dc:title>
  <dc:creator>Ahmed Mohamed Gaber Ahmed</dc:creator>
  <cp:lastModifiedBy>Ahmed Mohamed Gaber Ahmed</cp:lastModifiedBy>
  <cp:revision>38</cp:revision>
  <dcterms:created xsi:type="dcterms:W3CDTF">2025-12-12T11:37:40Z</dcterms:created>
  <dcterms:modified xsi:type="dcterms:W3CDTF">2026-01-15T09:15:26Z</dcterms:modified>
</cp:coreProperties>
</file>